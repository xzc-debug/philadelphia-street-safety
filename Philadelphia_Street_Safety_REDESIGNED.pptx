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1463040"/>
            <a:ext cx="1828800" cy="7315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B3D6F"/>
          </a:solidFill>
          <a:ln/>
        </p:spPr>
      </p:sp>
      <p:sp>
        <p:nvSpPr>
          <p:cNvPr id="6" name="Shape 4"/>
          <p:cNvSpPr/>
          <p:nvPr/>
        </p:nvSpPr>
        <p:spPr>
          <a:xfrm>
            <a:off x="7589520" y="1737360"/>
            <a:ext cx="109728" cy="109728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1737360"/>
            <a:ext cx="109728" cy="109728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321040" y="1737360"/>
            <a:ext cx="109728" cy="109728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589520" y="2103120"/>
            <a:ext cx="109728" cy="109728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955280" y="2103120"/>
            <a:ext cx="109728" cy="109728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321040" y="2103120"/>
            <a:ext cx="109728" cy="109728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2468880"/>
            <a:ext cx="109728" cy="109728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955280" y="2468880"/>
            <a:ext cx="109728" cy="109728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321040" y="2468880"/>
            <a:ext cx="109728" cy="109728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589520" y="2834640"/>
            <a:ext cx="109728" cy="109728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955280" y="2834640"/>
            <a:ext cx="109728" cy="109728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21040" y="2834640"/>
            <a:ext cx="109728" cy="109728"/>
          </a:xfrm>
          <a:prstGeom prst="ellipse">
            <a:avLst/>
          </a:prstGeom>
          <a:solidFill>
            <a:srgbClr val="0D9488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9601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 Street Safety Analysis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7200" y="21488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Google Street View · YOLO Detection · Crime Data Integration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32004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9260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B3D6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60320" y="29260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B3D6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Analysis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9260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1B3D6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9260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Planning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43434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Zicheng · MUSA Program · University of Pennsylvania · Weitzman School of Design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4160520" cy="10058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97280"/>
            <a:ext cx="54864" cy="10058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15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street-level traffic safety infrastructure relate to crime incident patterns across Philadelphia neighborhoods?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240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606040"/>
            <a:ext cx="132588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6426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2862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3063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GSV API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0" y="2606040"/>
            <a:ext cx="1325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691640" y="26426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91640" y="2862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Detection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3063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063240" y="2606040"/>
            <a:ext cx="1325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108960" y="264261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08960" y="2862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08960" y="306324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3429000"/>
            <a:ext cx="1325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34655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3685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Join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3886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645920" y="3429000"/>
            <a:ext cx="1325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691640" y="34655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91640" y="3685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91640" y="3886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63240" y="3429000"/>
            <a:ext cx="1325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108960" y="34655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108960" y="3685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108960" y="3886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17720" y="1097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Study Areas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17720" y="1508760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1508760"/>
            <a:ext cx="109728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15819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City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00600" y="18928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Core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17720" y="2313432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2313432"/>
            <a:ext cx="109728" cy="7132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2" name="Text 40"/>
          <p:cNvSpPr/>
          <p:nvPr/>
        </p:nvSpPr>
        <p:spPr>
          <a:xfrm>
            <a:off x="4800600" y="23865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Kensington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800600" y="26974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Community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17720" y="3118104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17720" y="3118104"/>
            <a:ext cx="109728" cy="7132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4800600" y="319125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Breeze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00600" y="35021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Mid-Density Residential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617720" y="3922776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17720" y="3922776"/>
            <a:ext cx="109728" cy="71323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0" name="Text 48"/>
          <p:cNvSpPr/>
          <p:nvPr/>
        </p:nvSpPr>
        <p:spPr>
          <a:xfrm>
            <a:off x="4800600" y="39959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City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4800600" y="430682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Education Hub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D6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Google Street View Data Collection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788920" cy="2651760"/>
          </a:xfrm>
          <a:prstGeom prst="rect">
            <a:avLst/>
          </a:prstGeom>
          <a:solidFill>
            <a:srgbClr val="1B3D6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43000"/>
            <a:ext cx="2788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527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Data 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Street View Static 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2128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Street-level panoramic imagery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68833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 major corridors coverage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143000"/>
            <a:ext cx="2788920" cy="2651760"/>
          </a:xfrm>
          <a:prstGeom prst="rect">
            <a:avLst/>
          </a:prstGeom>
          <a:solidFill>
            <a:srgbClr val="1B3D6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43000"/>
            <a:ext cx="2788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2527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Sampling Strategy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7373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Grid-based sampling on streets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2128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30–50m inter-point spacing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68833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Python pipeline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143000"/>
            <a:ext cx="2788920" cy="2651760"/>
          </a:xfrm>
          <a:prstGeom prst="rect">
            <a:avLst/>
          </a:prstGeom>
          <a:solidFill>
            <a:srgbClr val="1B3D6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143000"/>
            <a:ext cx="27889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2527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API Parameters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09360" y="17373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GPS coordinates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21284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heading: 0–360° direction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2688336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pitch: −90 to +90 degrees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163824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fov: field of view angle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931920"/>
            <a:ext cx="86868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Reference: Li et al. (2020) — Mapping solar radiation in street canyons using Google Street View panoramas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15° Street View Imagery Processing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4206240" cy="9601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15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15° Pitch?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4447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Mimics a pedestrian's standing eye-level view (~1.6m), optimally capturing traffic signals and stop signs without distortion.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" y="219456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267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👁️  Optimal Visibility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560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infrastructure at correct angle — not too steep, not too flat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99923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0723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Reduced Computation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364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fixed-pitch frame vs full 360° panorama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3803904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3877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 Real-World Perspective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4169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pedestrian, cyclist, and driver viewpoint for practical applications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664208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2075688"/>
            <a:ext cx="36576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Shape 20"/>
          <p:cNvSpPr/>
          <p:nvPr/>
        </p:nvSpPr>
        <p:spPr>
          <a:xfrm>
            <a:off x="5303520" y="1600200"/>
            <a:ext cx="3520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40680" y="1627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Download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188366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pitch=15° via Google API → JPG format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459736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2459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2871216"/>
            <a:ext cx="36576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Shape 26"/>
          <p:cNvSpPr/>
          <p:nvPr/>
        </p:nvSpPr>
        <p:spPr>
          <a:xfrm>
            <a:off x="5303520" y="2395728"/>
            <a:ext cx="3520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40680" y="2423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&amp; Normalize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26791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640×480px · pixel values [0,1]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255264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37760" y="3666744"/>
            <a:ext cx="36576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4" name="Shape 32"/>
          <p:cNvSpPr/>
          <p:nvPr/>
        </p:nvSpPr>
        <p:spPr>
          <a:xfrm>
            <a:off x="5303520" y="3191256"/>
            <a:ext cx="3520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40680" y="3218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Equalization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40680" y="3474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contrast for detection accuracy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4050792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4050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303520" y="3986784"/>
            <a:ext cx="35204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440680" y="40142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Output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440680" y="42702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Model-ready JPG + metadata JSON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D6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Object Detection with YOLOv3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4114800" cy="1463040"/>
          </a:xfrm>
          <a:prstGeom prst="rect">
            <a:avLst/>
          </a:prstGeom>
          <a:solidFill>
            <a:srgbClr val="1B3D6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70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 Traffic Lights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信号灯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9222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· Yellow · Green state detection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signal localization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4114800" cy="1463040"/>
          </a:xfrm>
          <a:prstGeom prst="rect">
            <a:avLst/>
          </a:prstGeom>
          <a:solidFill>
            <a:srgbClr val="1B3D6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170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 Stop Signs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1536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停止标志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79222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Octagonal red sign recognition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Unsignalized intersection locating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8600" y="2743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8600" y="3090672"/>
            <a:ext cx="20574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312724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YOLOv3-416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0040" y="35478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38039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 pretrained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68880" y="3090672"/>
            <a:ext cx="20574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60320" y="312724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0.50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560320" y="35478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38039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3090672"/>
            <a:ext cx="20574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312724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00600" y="35478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NMS Threshold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8039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49440" y="3090672"/>
            <a:ext cx="2057400" cy="9601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040880" y="312724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040880" y="354787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Set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40880" y="380390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PHI images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GeoJSON Data Transformation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4160520" cy="2788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15568"/>
            <a:ext cx="41605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430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Feature Structure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55448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"type": "Feature",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"properties":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"traffic_light",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"confidence": 0.92,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"street": "Broad Street",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"neighborhood": "Center City"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"geometry":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"type": "Point",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"coordinates": [-75.165, 39.951]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115568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Validation Steps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554480"/>
            <a:ext cx="4343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627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Street Snapping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920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detections to actual road network to correct GPS drift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377440"/>
            <a:ext cx="4343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24505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Deduplication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743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multiple detections at the same corner within 100m radius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200400"/>
            <a:ext cx="4343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3273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Accuracy Filtering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3566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detections with confidence &lt; 0.50 + manual review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4023360"/>
            <a:ext cx="4343400" cy="5943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4059936"/>
            <a:ext cx="41148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Per-neighborhood traffic_lights.geojson + stop_signs.geojson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D6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Crime Data Integration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2743200" cy="1280160"/>
          </a:xfrm>
          <a:prstGeom prst="rect">
            <a:avLst/>
          </a:prstGeom>
          <a:solidFill>
            <a:srgbClr val="0D1F3C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170432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152,555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 PD Crime Records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115568"/>
            <a:ext cx="5760720" cy="1280160"/>
          </a:xfrm>
          <a:prstGeom prst="rect">
            <a:avLst/>
          </a:prstGeom>
          <a:solidFill>
            <a:srgbClr val="1B3D6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887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Join Methodology  (GeoPandas sjoin)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572768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neighborhood boundaries via convex hull / area shapefile
</a:t>
            </a:r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Point-in-polygon spatial join → assign incident to neighborhood
</a:t>
            </a:r>
            <a:pPr indent="0" marL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counts + classify by incident type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" y="2560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Counts by Neighborhood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2907792"/>
            <a:ext cx="8686800" cy="4572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" y="2907792"/>
            <a:ext cx="54864" cy="457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9718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31720" y="29718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4,293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37560" y="3054096"/>
            <a:ext cx="850392" cy="164592"/>
          </a:xfrm>
          <a:prstGeom prst="rect">
            <a:avLst/>
          </a:prstGeom>
          <a:solidFill>
            <a:srgbClr val="EC4899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29718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Narcotics · Assaults · Other Offenses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3419856"/>
            <a:ext cx="8686800" cy="457200"/>
          </a:xfrm>
          <a:prstGeom prst="rect">
            <a:avLst/>
          </a:prstGeom>
          <a:solidFill>
            <a:srgbClr val="1B3D6F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" y="3419856"/>
            <a:ext cx="54864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4838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Breeze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34838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2,023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37560" y="3566160"/>
            <a:ext cx="402336" cy="164592"/>
          </a:xfrm>
          <a:prstGeom prst="rect">
            <a:avLst/>
          </a:prstGeom>
          <a:solidFill>
            <a:srgbClr val="6366F1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34838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Thefts · Other Offenses · Assaults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3931920"/>
            <a:ext cx="8686800" cy="4572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" y="3931920"/>
            <a:ext cx="54864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9959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City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31720" y="39959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1,527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337560" y="4078224"/>
            <a:ext cx="301752" cy="164592"/>
          </a:xfrm>
          <a:prstGeom prst="rect">
            <a:avLst/>
          </a:prstGeom>
          <a:solidFill>
            <a:srgbClr val="0D9488">
              <a:alpha val="7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297680" y="399592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Thefts · Assaults · Other Offenses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4443984"/>
            <a:ext cx="8686800" cy="457200"/>
          </a:xfrm>
          <a:prstGeom prst="rect">
            <a:avLst/>
          </a:prstGeom>
          <a:solidFill>
            <a:srgbClr val="1B3D6F"/>
          </a:solidFill>
          <a:ln/>
        </p:spPr>
      </p:sp>
      <p:sp>
        <p:nvSpPr>
          <p:cNvPr id="32" name="Shape 30"/>
          <p:cNvSpPr/>
          <p:nvPr/>
        </p:nvSpPr>
        <p:spPr>
          <a:xfrm>
            <a:off x="228600" y="4443984"/>
            <a:ext cx="54864" cy="4572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5079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Kensington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31720" y="450799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737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337560" y="4590288"/>
            <a:ext cx="146304" cy="164592"/>
          </a:xfrm>
          <a:prstGeom prst="rect">
            <a:avLst/>
          </a:prstGeom>
          <a:solidFill>
            <a:srgbClr val="F97316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297680" y="45079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Vehicle Theft · Theft from Vehicle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Spatial Analysis &amp; Patterns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28600" y="10789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Density (per km²)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444752"/>
            <a:ext cx="137160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4630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20" y="1444752"/>
            <a:ext cx="86868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1463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Lights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1444752"/>
            <a:ext cx="86868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10"/>
          <p:cNvSpPr/>
          <p:nvPr/>
        </p:nvSpPr>
        <p:spPr>
          <a:xfrm>
            <a:off x="2834640" y="1463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1444752"/>
            <a:ext cx="86868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4" name="Text 12"/>
          <p:cNvSpPr/>
          <p:nvPr/>
        </p:nvSpPr>
        <p:spPr>
          <a:xfrm>
            <a:off x="3794760" y="1463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 Signs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444752"/>
            <a:ext cx="86868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4630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1773936"/>
            <a:ext cx="13716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1773936"/>
            <a:ext cx="54864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" y="181051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City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74520" y="1773936"/>
            <a:ext cx="868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20240" y="1810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88920" y="1773936"/>
            <a:ext cx="868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1810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49040" y="1773936"/>
            <a:ext cx="868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1810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1773936"/>
            <a:ext cx="868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81051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" y="2157984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157984"/>
            <a:ext cx="54864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338328" y="21945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Kensington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874520" y="2157984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20240" y="21945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88920" y="2157984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0" y="21945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17.6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749040" y="2157984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94760" y="21945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2157984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19456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" y="2542032"/>
            <a:ext cx="137160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" y="2542032"/>
            <a:ext cx="54864" cy="34747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338328" y="257860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Breeze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874520" y="2542032"/>
            <a:ext cx="868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20240" y="25786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788920" y="2542032"/>
            <a:ext cx="868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0" y="25786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23.2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749040" y="2542032"/>
            <a:ext cx="868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94760" y="25786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09160" y="2542032"/>
            <a:ext cx="86868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25786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48.8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28600" y="2926080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28600" y="2926080"/>
            <a:ext cx="54864" cy="34747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52" name="Text 50"/>
          <p:cNvSpPr/>
          <p:nvPr/>
        </p:nvSpPr>
        <p:spPr>
          <a:xfrm>
            <a:off x="338328" y="2962656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City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1874520" y="2926080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20240" y="296265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219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88920" y="2926080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34640" y="296265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749040" y="2926080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94760" y="296265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709160" y="2926080"/>
            <a:ext cx="8686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2962656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5577840" y="107899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5577840" y="1463040"/>
            <a:ext cx="3337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669280" y="15361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University City Anomaly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669280" y="18288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traffic light density (87.6/km²) but fewest stop signs — reflects signal-controlled campus intersections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577840" y="2606040"/>
            <a:ext cx="3337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669280" y="26791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🏘️  Point Breeze Pattern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669280" y="29718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stop sign density (48.8/km²) — typical of low-speed residential streets with many unsignalized intersections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577840" y="3749040"/>
            <a:ext cx="3337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5669280" y="38221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Center City Balance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669280" y="41148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Relatively even mix of signals and signs — reflecting arterial commercial district characteristics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D6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Interactive Dashboard &amp; Website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4114800" cy="1874520"/>
          </a:xfrm>
          <a:prstGeom prst="rect">
            <a:avLst/>
          </a:prstGeom>
          <a:solidFill>
            <a:srgbClr val="1B3D6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15568"/>
            <a:ext cx="41148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React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956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Leaflet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Recharts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Axios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990088"/>
            <a:ext cx="4114800" cy="25603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992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115568"/>
            <a:ext cx="4114800" cy="1874520"/>
          </a:xfrm>
          <a:prstGeom prst="rect">
            <a:avLst/>
          </a:prstGeom>
          <a:solidFill>
            <a:srgbClr val="1B3D6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15568"/>
            <a:ext cx="411480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2070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Flask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1956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GeoPandas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2677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5786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JSON Cache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990088"/>
            <a:ext cx="4114800" cy="25603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9992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localhost:5000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" y="333756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" y="3675888"/>
            <a:ext cx="2103120" cy="10515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37216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Interactive Map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40965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signals &amp; stop signs overlaid on OpenStreetMap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68880" y="3675888"/>
            <a:ext cx="2103120" cy="10515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60320" y="37216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Stats Panel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60320" y="40965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facility counts and density per neighborhood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3675888"/>
            <a:ext cx="2103120" cy="10515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00600" y="37216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Crime Breakdown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40965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incident types with bar chart comparison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49440" y="3675888"/>
            <a:ext cx="2103120" cy="10515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040880" y="37216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Neighborhood Switcher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40965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data refresh with dropdown selector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Complete Workflow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82880" y="1188720"/>
            <a:ext cx="1325880" cy="12344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1234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37744" y="1664208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GSV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" y="1947672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15° pitch images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508760" y="1737360"/>
            <a:ext cx="173736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1682496" y="1188720"/>
            <a:ext cx="1325880" cy="123444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682496" y="1234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737360" y="1664208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37360" y="1947672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output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008376" y="1737360"/>
            <a:ext cx="173736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6" name="Shape 14"/>
          <p:cNvSpPr/>
          <p:nvPr/>
        </p:nvSpPr>
        <p:spPr>
          <a:xfrm>
            <a:off x="3182112" y="1188720"/>
            <a:ext cx="1325880" cy="1234440"/>
          </a:xfrm>
          <a:prstGeom prst="rect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82112" y="1234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236976" y="1664208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36976" y="1947672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geometries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07992" y="1737360"/>
            <a:ext cx="173736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Shape 19"/>
          <p:cNvSpPr/>
          <p:nvPr/>
        </p:nvSpPr>
        <p:spPr>
          <a:xfrm>
            <a:off x="4681728" y="1188720"/>
            <a:ext cx="1325880" cy="123444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81728" y="1234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736592" y="1664208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Join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36592" y="1947672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assignment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07608" y="1737360"/>
            <a:ext cx="173736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Shape 24"/>
          <p:cNvSpPr/>
          <p:nvPr/>
        </p:nvSpPr>
        <p:spPr>
          <a:xfrm>
            <a:off x="6181344" y="1188720"/>
            <a:ext cx="1325880" cy="1234440"/>
          </a:xfrm>
          <a:prstGeom prst="rect">
            <a:avLst/>
          </a:prstGeom>
          <a:solidFill>
            <a:srgbClr val="FBBF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81344" y="1234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236208" y="1664208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36208" y="1947672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stats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507224" y="1737360"/>
            <a:ext cx="173736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0" y="1188720"/>
            <a:ext cx="1325880" cy="1234440"/>
          </a:xfrm>
          <a:prstGeom prst="rect">
            <a:avLst/>
          </a:prstGeom>
          <a:solidFill>
            <a:srgbClr val="EC489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680960" y="12344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735824" y="1664208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35824" y="1947672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Leaflet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28600" y="2606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28600" y="2971800"/>
            <a:ext cx="2103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28600" y="2971800"/>
            <a:ext cx="21031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320040" y="30632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320040" y="37216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GSV Images Processed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2004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neighborhood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468880" y="2971800"/>
            <a:ext cx="2103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68880" y="2971800"/>
            <a:ext cx="21031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1"/>
          <p:cNvSpPr/>
          <p:nvPr/>
        </p:nvSpPr>
        <p:spPr>
          <a:xfrm>
            <a:off x="2560320" y="30632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89–93%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2560320" y="37216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Accuracy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56032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lights &amp; signs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09160" y="2971800"/>
            <a:ext cx="2103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09160" y="2971800"/>
            <a:ext cx="21031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4800600" y="30632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152K</a:t>
            </a:r>
            <a:endParaRPr lang="en-US" sz="3200" dirty="0"/>
          </a:p>
        </p:txBody>
      </p:sp>
      <p:sp>
        <p:nvSpPr>
          <p:cNvPr id="49" name="Text 47"/>
          <p:cNvSpPr/>
          <p:nvPr/>
        </p:nvSpPr>
        <p:spPr>
          <a:xfrm>
            <a:off x="4800600" y="37216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Records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80060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spatially joined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49440" y="2971800"/>
            <a:ext cx="21031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949440" y="2971800"/>
            <a:ext cx="21031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3" name="Text 51"/>
          <p:cNvSpPr/>
          <p:nvPr/>
        </p:nvSpPr>
        <p:spPr>
          <a:xfrm>
            <a:off x="7040880" y="30632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1–2s</a:t>
            </a:r>
            <a:endParaRPr lang="en-US" sz="3200" dirty="0"/>
          </a:p>
        </p:txBody>
      </p:sp>
      <p:sp>
        <p:nvSpPr>
          <p:cNvPr id="54" name="Text 52"/>
          <p:cNvSpPr/>
          <p:nvPr/>
        </p:nvSpPr>
        <p:spPr>
          <a:xfrm>
            <a:off x="7040880" y="37216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Startup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04088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preprocessing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D6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Implications &amp; Future Work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41605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3385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Urban Planning Applications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481328"/>
            <a:ext cx="4160520" cy="457200"/>
          </a:xfrm>
          <a:prstGeom prst="rect">
            <a:avLst/>
          </a:prstGeom>
          <a:solidFill>
            <a:srgbClr val="1B3D6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50876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under-served neighborhoods lacking traffic control infrastructure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8600" y="1984248"/>
            <a:ext cx="4160520" cy="457200"/>
          </a:xfrm>
          <a:prstGeom prst="rect">
            <a:avLst/>
          </a:prstGeom>
          <a:solidFill>
            <a:srgbClr val="1B3D6F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01168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relationship between safety infrastructure and crime patterns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487168"/>
            <a:ext cx="4160520" cy="457200"/>
          </a:xfrm>
          <a:prstGeom prst="rect">
            <a:avLst/>
          </a:prstGeom>
          <a:solidFill>
            <a:srgbClr val="1B3D6F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51460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investment decisions for transportation safety upgrades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2999232"/>
            <a:ext cx="4160520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301752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Directions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364992"/>
            <a:ext cx="4160520" cy="356616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392424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all Philadelphia neighborhoods &amp; other US cities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758184"/>
            <a:ext cx="4160520" cy="356616"/>
          </a:xfrm>
          <a:prstGeom prst="rect">
            <a:avLst/>
          </a:prstGeom>
          <a:solidFill>
            <a:srgbClr val="1B3D6F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785616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analysis: track infrastructure &amp; crime changes over 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4151376"/>
            <a:ext cx="4160520" cy="356616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4178808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YOLOv8 for higher detection accuracy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4544568"/>
            <a:ext cx="4160520" cy="356616"/>
          </a:xfrm>
          <a:prstGeom prst="rect">
            <a:avLst/>
          </a:prstGeom>
          <a:solidFill>
            <a:srgbClr val="1B3D6F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572000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prediction using ensemble ML models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111556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Impact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17720" y="1554480"/>
            <a:ext cx="4297680" cy="914400"/>
          </a:xfrm>
          <a:prstGeom prst="rect">
            <a:avLst/>
          </a:prstGeom>
          <a:solidFill>
            <a:srgbClr val="1B3D6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1755648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681728" y="1755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57800" y="16459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20299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street infrastructure to reduce accidents and crime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2606040"/>
            <a:ext cx="4297680" cy="914400"/>
          </a:xfrm>
          <a:prstGeom prst="rect">
            <a:avLst/>
          </a:prstGeom>
          <a:solidFill>
            <a:srgbClr val="1B3D6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2807208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681728" y="2807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57800" y="26974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Equity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30815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communities have adequate safety infrastructure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17720" y="3657600"/>
            <a:ext cx="4297680" cy="914400"/>
          </a:xfrm>
          <a:prstGeom prst="rect">
            <a:avLst/>
          </a:prstGeom>
          <a:solidFill>
            <a:srgbClr val="1B3D6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81728" y="3858768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4681728" y="3858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57800" y="37490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Science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57800" y="41330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tools and replicable framework for other cities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6172200" y="36576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36576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43800" y="36576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36576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172200" y="123444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58000" y="123444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43800" y="123444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123444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210312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210312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543800" y="210312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0" y="210312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172200" y="297180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0" y="297180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43800" y="297180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297180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384048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0" y="384048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43800" y="384048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0" y="3840480"/>
            <a:ext cx="137160" cy="137160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13716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Discussion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274320" y="9144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26" name="Shape 24"/>
          <p:cNvSpPr/>
          <p:nvPr/>
        </p:nvSpPr>
        <p:spPr>
          <a:xfrm>
            <a:off x="274320" y="2103120"/>
            <a:ext cx="32004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22860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263347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Professor's GSV data processing guidance (15° pitch optimization)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30175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&amp; Remote Sensing course foundations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" y="340156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community tools &amp; libraries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480560"/>
            <a:ext cx="5943600" cy="662940"/>
          </a:xfrm>
          <a:prstGeom prst="rect">
            <a:avLst/>
          </a:prstGeom>
          <a:solidFill>
            <a:srgbClr val="1B3D6F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507992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Philadelphia Street Safety Analysis · MUSA Program · University of Pennsylvania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Philadelphia Street Safety Analysis</dc:title>
  <dc:subject>PptxGenJS Presentation</dc:subject>
  <dc:creator>PptxGenJS</dc:creator>
  <cp:lastModifiedBy>PptxGenJS</cp:lastModifiedBy>
  <cp:revision>1</cp:revision>
  <dcterms:created xsi:type="dcterms:W3CDTF">2026-03-19T04:46:27Z</dcterms:created>
  <dcterms:modified xsi:type="dcterms:W3CDTF">2026-03-19T04:46:27Z</dcterms:modified>
</cp:coreProperties>
</file>